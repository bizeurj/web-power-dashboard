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5143500"/>
          </a:xfrm>
          <a:prstGeom prst="rect">
            <a:avLst/>
          </a:prstGeom>
          <a:solidFill>
            <a:srgbClr val="FAF6F1"/>
          </a:solidFill>
          <a:ln w="12700">
            <a:solidFill>
              <a:srgbClr val="FAF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WORKHUMAN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36576"/>
          </a:xfrm>
          <a:prstGeom prst="rect">
            <a:avLst/>
          </a:prstGeom>
          <a:solidFill>
            <a:srgbClr val="E0A82E"/>
          </a:solidFill>
          <a:ln w="12700">
            <a:solidFill>
              <a:srgbClr val="E0A8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Engine</a:t>
            </a:r>
            <a:endParaRPr lang="en-US" sz="5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Optimization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4D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Stand. Where We're Going.</a:t>
            </a:r>
            <a:endParaRPr lang="en-US" sz="2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554480"/>
            <a:ext cx="82296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78040" y="251460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TEAM BRIEFING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178040" y="27432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 2026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178040" y="32918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Creative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46177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4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MAY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January, we had no visibility into AI search.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31089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INVISIBLE TO US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874520" y="2194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4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Workhuman mentions across AI surfaces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874520" y="2834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4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engines untracked (ChatGPT, Perplexity, Gemini, Copilot, Meta AI, Grok, Google AI Mode, AI Overviews)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874520" y="3474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4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competitors with no comparative read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40233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874520" y="4114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4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on which Workhuman content was being cited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600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was a problem.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846320" y="2112264"/>
            <a:ext cx="146304" cy="146304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20574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were already asking AI first.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74920" y="23500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and Perplexity cleared 1.5M HR Tech queries each in 2026 YTD. The buyer journey shifted upstream and we could not see it.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3026664"/>
            <a:ext cx="146304" cy="146304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29718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and GSC do not measure mentions.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74920" y="32644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entire analytics stack measures clicks. None of it captures the moments AI names us inside an answer the user never clicks through from.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3941064"/>
            <a:ext cx="146304" cy="146304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38862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were already optimizing.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74920" y="41788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Achievers, Bonusly, and Workday were investing in AEO content while we lacked the instrumentation to know we were behind.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5DED4"/>
          </a:solidFill>
          <a:ln w="12700">
            <a:solidFill>
              <a:srgbClr val="E5DE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500176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Workhuman   /   AEO Progress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229600" y="500176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we can see. And the picture is encouraging.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517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2651760" cy="54864"/>
          </a:xfrm>
          <a:prstGeom prst="rect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828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LIFT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85800" y="23317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F7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+55%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685800" y="33375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Workhuman visibility climbed from 18.97% to 29.40% in four months.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554480"/>
            <a:ext cx="26517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554480"/>
            <a:ext cx="265176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7830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31920" y="1828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474720" y="23317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1.92×</a:t>
            </a:r>
            <a:endParaRPr lang="en-US" sz="4200" dirty="0"/>
          </a:p>
        </p:txBody>
      </p:sp>
      <p:sp>
        <p:nvSpPr>
          <p:cNvPr id="15" name="Text 11"/>
          <p:cNvSpPr/>
          <p:nvPr/>
        </p:nvSpPr>
        <p:spPr>
          <a:xfrm>
            <a:off x="3474720" y="33375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mentions nearly doubled, climbing from ~30K in Jan to ~59K in Apr.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5040" y="1554480"/>
            <a:ext cx="26517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35040" y="1554480"/>
            <a:ext cx="2651760" cy="54864"/>
          </a:xfrm>
          <a:prstGeom prst="rect">
            <a:avLst/>
          </a:prstGeom>
          <a:solidFill>
            <a:srgbClr val="E0A82E"/>
          </a:solidFill>
          <a:ln w="12700">
            <a:solidFill>
              <a:srgbClr val="E0A82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830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20840" y="1828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RANK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263640" y="23317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0A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#4 / 50+</a:t>
            </a:r>
            <a:endParaRPr lang="en-US" sz="4200" dirty="0"/>
          </a:p>
        </p:txBody>
      </p:sp>
      <p:sp>
        <p:nvSpPr>
          <p:cNvPr id="21" name="Text 16"/>
          <p:cNvSpPr/>
          <p:nvPr/>
        </p:nvSpPr>
        <p:spPr>
          <a:xfrm>
            <a:off x="6263640" y="33375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Workhuman sits in the top tier of the HR Technology answer set.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4D9D9"/>
          </a:solidFill>
          <a:ln w="12700">
            <a:solidFill>
              <a:srgbClr val="F4D9D9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40080" y="446227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0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figures: Profound HR Technology category, Jan 1 to Apr 30 2026, monthly aggregation.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5DED4"/>
          </a:solidFill>
          <a:ln w="12700">
            <a:solidFill>
              <a:srgbClr val="E5DED4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65760" y="500176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Workhuman   /   AEO Progress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8229600" y="500176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Answer Engine Optimization?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9377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37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WORKING DEFINITION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993392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 is the discipline of structuring content so it is retrieved, cited, and named by generative answer engines (ChatGPT, Perplexity, Gemini, Google AI Mode and AI Overviews) when a buyer asks a question.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9718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category writing by Search Engine Land, Marketing AI Institute, and Profound. Also called Generative Engine Optimization (GEO).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3383280"/>
            <a:ext cx="4526280" cy="4572"/>
          </a:xfrm>
          <a:prstGeom prst="rect">
            <a:avLst/>
          </a:prstGeom>
          <a:solidFill>
            <a:srgbClr val="E5DED4"/>
          </a:solidFill>
          <a:ln w="12700">
            <a:solidFill>
              <a:srgbClr val="E5DE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4564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OF AEO WORK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" y="3758184"/>
            <a:ext cx="118872" cy="11887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703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83080" y="370332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Citation-ready passages, claims, named statistics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" y="4050792"/>
            <a:ext cx="118872" cy="11887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9959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3080" y="39959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headings, FAQ markup, passage atomicity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4343400"/>
            <a:ext cx="118872" cy="11887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2885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83080" y="42885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signals AI uses to decide who to trust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0" y="1508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0" y="1508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0" y="1892808"/>
            <a:ext cx="3108960" cy="18288"/>
          </a:xfrm>
          <a:prstGeom prst="rect">
            <a:avLst/>
          </a:prstGeom>
          <a:solidFill>
            <a:srgbClr val="E5DED4"/>
          </a:solidFill>
          <a:ln w="12700">
            <a:solidFill>
              <a:srgbClr val="E5DE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20116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669280" y="21762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on page 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21762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 the answer set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0" y="2514600"/>
            <a:ext cx="3108960" cy="4572"/>
          </a:xfrm>
          <a:prstGeom prst="rect">
            <a:avLst/>
          </a:prstGeom>
          <a:solidFill>
            <a:srgbClr val="E5DED4"/>
          </a:solidFill>
          <a:ln w="12700">
            <a:solidFill>
              <a:srgbClr val="E5DE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2560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669280" y="27249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 rate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0" y="27249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share, SoV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0" y="3063240"/>
            <a:ext cx="3108960" cy="4572"/>
          </a:xfrm>
          <a:prstGeom prst="rect">
            <a:avLst/>
          </a:prstGeom>
          <a:solidFill>
            <a:srgbClr val="E5DED4"/>
          </a:solidFill>
          <a:ln w="12700">
            <a:solidFill>
              <a:srgbClr val="E5DE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31089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669280" y="32735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page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0" y="32735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passage, the fact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0" y="3611880"/>
            <a:ext cx="3108960" cy="4572"/>
          </a:xfrm>
          <a:prstGeom prst="rect">
            <a:avLst/>
          </a:prstGeom>
          <a:solidFill>
            <a:srgbClr val="E5DED4"/>
          </a:solidFill>
          <a:ln w="12700">
            <a:solidFill>
              <a:srgbClr val="E5DE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0" y="36576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669280" y="38221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on your link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0" y="38221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names you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669280" y="4160520"/>
            <a:ext cx="3108960" cy="4572"/>
          </a:xfrm>
          <a:prstGeom prst="rect">
            <a:avLst/>
          </a:prstGeom>
          <a:solidFill>
            <a:srgbClr val="E5DED4"/>
          </a:solidFill>
          <a:ln w="12700">
            <a:solidFill>
              <a:srgbClr val="E5DE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0" y="42062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669280" y="43708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15200" y="43708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as set narrows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5DED4"/>
          </a:solidFill>
          <a:ln w="12700">
            <a:solidFill>
              <a:srgbClr val="E5DE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500176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Workhuman   /   AEO Progress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229600" y="500176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behavior is changing under our feet.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640080" cy="640080"/>
          </a:xfrm>
          <a:prstGeom prst="ellipse">
            <a:avLst/>
          </a:prstGeom>
          <a:solidFill>
            <a:srgbClr val="F4D9D9"/>
          </a:solidFill>
          <a:ln w="12700">
            <a:solidFill>
              <a:srgbClr val="F4D9D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099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508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Buyers ask AI before they ask Google.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25880" y="1965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Perplexity, Gemini, and Google AI now sit between the buyer and our website.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2651760"/>
            <a:ext cx="640080" cy="640080"/>
          </a:xfrm>
          <a:prstGeom prst="ellipse">
            <a:avLst/>
          </a:prstGeom>
          <a:solidFill>
            <a:srgbClr val="F4D9D9"/>
          </a:solidFill>
          <a:ln w="12700">
            <a:solidFill>
              <a:srgbClr val="F4D9D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80720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606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answers are read, not clicked.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325880" y="3063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resolve questions inline. The traditional click is no longer the only signal of influence.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02920" y="3749040"/>
            <a:ext cx="640080" cy="640080"/>
          </a:xfrm>
          <a:prstGeom prst="ellipse">
            <a:avLst/>
          </a:prstGeom>
          <a:solidFill>
            <a:srgbClr val="F4D9D9"/>
          </a:solidFill>
          <a:ln w="12700">
            <a:solidFill>
              <a:srgbClr val="F4D9D9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044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703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sets are narrow and sticky.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325880" y="4160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are not cited consistently in the answer set today, we will not be cited as it tightens tomorrow.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126480" y="1508760"/>
            <a:ext cx="2560320" cy="310896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263640" y="16916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1000" dirty="0"/>
          </a:p>
        </p:txBody>
      </p:sp>
      <p:sp>
        <p:nvSpPr>
          <p:cNvPr id="18" name="Text 13"/>
          <p:cNvSpPr/>
          <p:nvPr/>
        </p:nvSpPr>
        <p:spPr>
          <a:xfrm>
            <a:off x="6263640" y="3063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surfaces are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tracked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63640" y="3703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4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Mode  •  Perplexity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4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 •  Google AI Overviews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4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 •  Gemini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4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AI  •  Grok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5DED4"/>
          </a:solidFill>
          <a:ln w="12700">
            <a:solidFill>
              <a:srgbClr val="E5DED4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65760" y="500176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Workhuman   /   AEO Progress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8229600" y="500176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MEASUREMENT LAYER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see what AI says about us.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PROFOUND IS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85800" y="2377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AI search observability layer.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800" y="288036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thousands of buyer-style prompts against the major LLMs every day.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who is named, in what position, on which prompt.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into visibility, share of voice, mentions, and average position.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us slice by category, by competitor, by topic, and by model.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554480"/>
            <a:ext cx="40233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830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3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PROFOUND IS NOT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892040" y="2377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traffic or revenue tool.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892040" y="288036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measure clicks or sessions to workhuman.com. That is GA4.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measure pipeline or revenue. That is HubSpot and Salesforce.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optimize content for us. It tells us where we stand so we can.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replace SEO or GSC. It complements them with answer-layer signal.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5DED4"/>
          </a:solidFill>
          <a:ln w="12700">
            <a:solidFill>
              <a:srgbClr val="E5DED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65760" y="500176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Workhuman   /   AEO Progress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8229600" y="500176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THE DATA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metrics that tell the story.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54864" cy="15087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64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63240" y="1645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29.4%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all category prompts where Workhuman is mentioned at least once.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313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b="1" spc="200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LOOKS LIKE   </a:t>
            </a:r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band: 25-35% for a top-5 category brand. 30%+ means we appear in roughly 1 of every 3 relevant answers.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85800" y="2679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   </a:t>
            </a:r>
            <a:pPr indent="0" marL="0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tell you ranking position within the answer or who is mentioned more often.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40233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554480"/>
            <a:ext cx="54864" cy="15087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664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Voice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69480" y="1645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3.04%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9659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Workhuman mentions as a percent of all brand mentions in the HR Tech category.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92040" y="2313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b="1" spc="200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LOOKS LIKE   </a:t>
            </a:r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band: 3-4% in a 50+ brand category. Direct competitive measure against every brand simultaneously.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92040" y="2679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   </a:t>
            </a:r>
            <a:pPr indent="0" marL="0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tell you which competitor is taking share. Pair with rank deltas.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40233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154680"/>
            <a:ext cx="54864" cy="15087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264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Mentions Count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63240" y="32461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58,814 / mo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35661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volume of times Workhuman is named across prompts, models, and answer surfaces.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" y="3913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b="1" spc="200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LOOKS LIKE   </a:t>
            </a:r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when growing alongside visibility. Plateau at high visibility signals prompt-set saturation.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5800" y="4279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   </a:t>
            </a:r>
            <a:pPr indent="0" marL="0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tell you whether mentions are positive, neutral, or comparative. Sentiment is a Q3 wiring item.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63440" y="3154680"/>
            <a:ext cx="40233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154680"/>
            <a:ext cx="54864" cy="15087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264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Position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69480" y="32461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4.08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92040" y="35661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ordinal place we hold when AI generates a ranked or listed answer. Lower is better.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92040" y="3913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b="1" spc="200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LOOKS LIKE   </a:t>
            </a:r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band: 1-3 for a top-tier brand. Position 1-3 brands are repeated in voice / read-aloud responses; 4+ are listed.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92040" y="4279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   </a:t>
            </a:r>
            <a:pPr indent="0" marL="0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tell you list length. Position 4 of 5 is different from position 4 of 12.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5DED4"/>
          </a:solidFill>
          <a:ln w="12700">
            <a:solidFill>
              <a:srgbClr val="E5DE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500176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Workhuman   /   AEO Progress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229600" y="500176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MONTHS OF DATA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Visibility climbed 55% in four months.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0" cy="31089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  /   JAN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18.97%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685800" y="2606040"/>
            <a:ext cx="3200400" cy="4572"/>
          </a:xfrm>
          <a:prstGeom prst="rect">
            <a:avLst/>
          </a:prstGeom>
          <a:solidFill>
            <a:srgbClr val="F4D9D9"/>
          </a:solidFill>
          <a:ln w="12700">
            <a:solidFill>
              <a:srgbClr val="F4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697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63040" y="2697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22.50%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2697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+3.53pp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990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29900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25.81%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29900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+3.31pp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3383280"/>
            <a:ext cx="3200400" cy="4572"/>
          </a:xfrm>
          <a:prstGeom prst="rect">
            <a:avLst/>
          </a:prstGeom>
          <a:solidFill>
            <a:srgbClr val="F4D9D9"/>
          </a:solidFill>
          <a:ln w="12700">
            <a:solidFill>
              <a:srgbClr val="F4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474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  /   APR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37033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29.40%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85800" y="43708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+10.43pp absolute   /   +55% relative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34840" y="1600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means.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34840" y="199339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January, Workhuman appeared in roughly 1 of every 5 HR Tech answers. By April, we were in nearly 1 of every 3. This is the second-largest visibility gain among the top 10 brands in the category, behind only Workday.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34840" y="301752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DROVE THE CLIMB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34840" y="3291840"/>
            <a:ext cx="118872" cy="11887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32461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content gravity.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pillar pages on workhuman.com (recognition software, engagement software) entered the category top 10 cited URLs.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34840" y="3749040"/>
            <a:ext cx="118872" cy="11887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37033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improved.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citation position improved from 4.30 to 4.08, putting us closer to the read-aloud zone.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34840" y="4206240"/>
            <a:ext cx="118872" cy="11887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41605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accrual, not spike.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gains of +3.5pp, +3.3pp, +3.6pp. Trend line, not anomaly.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5DED4"/>
          </a:solidFill>
          <a:ln w="12700">
            <a:solidFill>
              <a:srgbClr val="E5DE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500176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Workhuman   /   AEO Progress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229600" y="500176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/ VISIBILITY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consistent climb, month over month.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786384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80060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Profound, HR Technology category. Monthly aggregation of daily visibility scores.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5DED4"/>
          </a:solidFill>
          <a:ln w="12700">
            <a:solidFill>
              <a:srgbClr val="E5DE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500176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Workhuman   /   AEO Progress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500176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/ REACH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Mentions nearly doubled. Share of voice held steady.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0233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45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MENTIONS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3840480" cy="2606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1508760"/>
            <a:ext cx="40233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892040" y="1645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VOICE  (%)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920240"/>
            <a:ext cx="3840480" cy="2606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4773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grew sharply through Q1. Share of voice held steady, meaning the entire category got noisier and we kept pace.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5DED4"/>
          </a:solidFill>
          <a:ln w="12700">
            <a:solidFill>
              <a:srgbClr val="E5DED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65760" y="500176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Workhuman   /   AEO Progress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229600" y="500176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/ QUALITY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not just cited more. We are cited earlier.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9377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45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POSITION  (LOWER IS BETTER)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4754880" cy="2606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7784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position matters.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577840" y="21031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often respond with ranked lists. Brands at positions 1 to 3 are read aloud, repeated, and remembered. Brands at positions 7+ effectively are not.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577840" y="3108960"/>
            <a:ext cx="3200400" cy="1554480"/>
          </a:xfrm>
          <a:prstGeom prst="rect">
            <a:avLst/>
          </a:prstGeom>
          <a:solidFill>
            <a:srgbClr val="F4D9D9"/>
          </a:solidFill>
          <a:ln w="12700">
            <a:solidFill>
              <a:srgbClr val="F4D9D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0" y="32461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Q1 GAIN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60720" y="3520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4.30  →  4.08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760720" y="39776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8B0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numeric move with outsized impact on which mentions get repeated.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5DED4"/>
          </a:solidFill>
          <a:ln w="12700">
            <a:solidFill>
              <a:srgbClr val="E5DE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500176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Workhuman   /   AEO Progress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29600" y="500176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tier of HR Technology, within striking distance.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47088"/>
            <a:ext cx="310896" cy="310896"/>
          </a:xfrm>
          <a:prstGeom prst="ellipse">
            <a:avLst/>
          </a:prstGeom>
          <a:solidFill>
            <a:srgbClr val="EFEAE2"/>
          </a:solidFill>
          <a:ln w="12700">
            <a:solidFill>
              <a:srgbClr val="EFEA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5623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18562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68880" y="1947672"/>
            <a:ext cx="5120640" cy="128016"/>
          </a:xfrm>
          <a:prstGeom prst="rect">
            <a:avLst/>
          </a:prstGeom>
          <a:solidFill>
            <a:srgbClr val="EFEAE2"/>
          </a:solidFill>
          <a:ln w="12700">
            <a:solidFill>
              <a:srgbClr val="EFEA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947672"/>
            <a:ext cx="4935728" cy="128016"/>
          </a:xfrm>
          <a:prstGeom prst="rect">
            <a:avLst/>
          </a:prstGeom>
          <a:solidFill>
            <a:srgbClr val="9A9A9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26680" y="1847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34.7%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304288"/>
            <a:ext cx="310896" cy="310896"/>
          </a:xfrm>
          <a:prstGeom prst="ellipse">
            <a:avLst/>
          </a:prstGeom>
          <a:solidFill>
            <a:srgbClr val="EFEAE2"/>
          </a:solidFill>
          <a:ln w="12700">
            <a:solidFill>
              <a:srgbClr val="EFEA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1343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23134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68880" y="2404872"/>
            <a:ext cx="5120640" cy="128016"/>
          </a:xfrm>
          <a:prstGeom prst="rect">
            <a:avLst/>
          </a:prstGeom>
          <a:solidFill>
            <a:srgbClr val="EFEAE2"/>
          </a:solidFill>
          <a:ln w="12700">
            <a:solidFill>
              <a:srgbClr val="EFEA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2404872"/>
            <a:ext cx="4437888" cy="128016"/>
          </a:xfrm>
          <a:prstGeom prst="rect">
            <a:avLst/>
          </a:prstGeom>
          <a:solidFill>
            <a:srgbClr val="9A9A9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23042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31.2%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EFEAE2"/>
          </a:solidFill>
          <a:ln w="12700">
            <a:solidFill>
              <a:srgbClr val="EFEA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77063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27706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468880" y="2862072"/>
            <a:ext cx="5120640" cy="128016"/>
          </a:xfrm>
          <a:prstGeom prst="rect">
            <a:avLst/>
          </a:prstGeom>
          <a:solidFill>
            <a:srgbClr val="EFEAE2"/>
          </a:solidFill>
          <a:ln w="12700">
            <a:solidFill>
              <a:srgbClr val="EFEA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68880" y="2862072"/>
            <a:ext cx="4252976" cy="128016"/>
          </a:xfrm>
          <a:prstGeom prst="rect">
            <a:avLst/>
          </a:prstGeom>
          <a:solidFill>
            <a:srgbClr val="9A9A9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26680" y="2761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29.9%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3218688"/>
            <a:ext cx="310896" cy="310896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22783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51560" y="32278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Workhuman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468880" y="3319272"/>
            <a:ext cx="5120640" cy="128016"/>
          </a:xfrm>
          <a:prstGeom prst="rect">
            <a:avLst/>
          </a:prstGeom>
          <a:solidFill>
            <a:srgbClr val="EFEAE2"/>
          </a:solidFill>
          <a:ln w="12700">
            <a:solidFill>
              <a:srgbClr val="EFEA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68880" y="3319272"/>
            <a:ext cx="4181856" cy="12801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26680" y="32186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29.4%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3675888"/>
            <a:ext cx="310896" cy="310896"/>
          </a:xfrm>
          <a:prstGeom prst="ellipse">
            <a:avLst/>
          </a:prstGeom>
          <a:solidFill>
            <a:srgbClr val="EFEAE2"/>
          </a:solidFill>
          <a:ln w="12700">
            <a:solidFill>
              <a:srgbClr val="EFEA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68503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51560" y="3685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Lattice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468880" y="3776472"/>
            <a:ext cx="5120640" cy="128016"/>
          </a:xfrm>
          <a:prstGeom prst="rect">
            <a:avLst/>
          </a:prstGeom>
          <a:solidFill>
            <a:srgbClr val="EFEAE2"/>
          </a:solidFill>
          <a:ln w="12700">
            <a:solidFill>
              <a:srgbClr val="EFEA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68880" y="3776472"/>
            <a:ext cx="3783584" cy="128016"/>
          </a:xfrm>
          <a:prstGeom prst="rect">
            <a:avLst/>
          </a:prstGeom>
          <a:solidFill>
            <a:srgbClr val="9A9A9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26680" y="36758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26.6%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" y="4133088"/>
            <a:ext cx="310896" cy="310896"/>
          </a:xfrm>
          <a:prstGeom prst="ellipse">
            <a:avLst/>
          </a:prstGeom>
          <a:solidFill>
            <a:srgbClr val="EFEAE2"/>
          </a:solidFill>
          <a:ln w="12700">
            <a:solidFill>
              <a:srgbClr val="EFEA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14223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51560" y="41422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Amp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468880" y="4233672"/>
            <a:ext cx="5120640" cy="128016"/>
          </a:xfrm>
          <a:prstGeom prst="rect">
            <a:avLst/>
          </a:prstGeom>
          <a:solidFill>
            <a:srgbClr val="EFEAE2"/>
          </a:solidFill>
          <a:ln w="12700">
            <a:solidFill>
              <a:srgbClr val="EFEA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68880" y="4233672"/>
            <a:ext cx="3755136" cy="128016"/>
          </a:xfrm>
          <a:prstGeom prst="rect">
            <a:avLst/>
          </a:prstGeom>
          <a:solidFill>
            <a:srgbClr val="9A9A9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26680" y="4133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26.4%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480060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6 brands by visibility. Profound HR Technology category, 30-day rolling.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5DED4"/>
          </a:solidFill>
          <a:ln w="12700">
            <a:solidFill>
              <a:srgbClr val="E5DE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500176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Workhuman   /   AEO Progress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229600" y="500176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/ COMPETITIVE READ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Suite vendors are now in the answer set.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93776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45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TECH TOP 6   /   APRIL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274320" cy="274320"/>
          </a:xfrm>
          <a:prstGeom prst="ellipse">
            <a:avLst/>
          </a:prstGeom>
          <a:solidFill>
            <a:srgbClr val="EFEA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208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20208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23160" y="20208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34.7%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20440" y="2039112"/>
            <a:ext cx="1554480" cy="219456"/>
          </a:xfrm>
          <a:prstGeom prst="rect">
            <a:avLst/>
          </a:prstGeom>
          <a:solidFill>
            <a:srgbClr val="F2F0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203911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85800" y="2423160"/>
            <a:ext cx="274320" cy="274320"/>
          </a:xfrm>
          <a:prstGeom prst="ellipse">
            <a:avLst/>
          </a:prstGeom>
          <a:solidFill>
            <a:srgbClr val="2A365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323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4323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23160" y="2432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20440" y="2450592"/>
            <a:ext cx="1554480" cy="219456"/>
          </a:xfrm>
          <a:prstGeom prst="rect">
            <a:avLst/>
          </a:prstGeom>
          <a:solidFill>
            <a:srgbClr val="2A365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24505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5800" y="2834640"/>
            <a:ext cx="274320" cy="274320"/>
          </a:xfrm>
          <a:prstGeom prst="ellipse">
            <a:avLst/>
          </a:prstGeom>
          <a:solidFill>
            <a:srgbClr val="EFEA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84378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2843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23160" y="28437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29.9%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20440" y="2862072"/>
            <a:ext cx="1554480" cy="219456"/>
          </a:xfrm>
          <a:prstGeom prst="rect">
            <a:avLst/>
          </a:prstGeom>
          <a:solidFill>
            <a:srgbClr val="F2F0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28620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85800" y="3246120"/>
            <a:ext cx="274320" cy="27432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25526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51560" y="32552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Workhuman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23160" y="32552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29.4%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520440" y="3273552"/>
            <a:ext cx="1554480" cy="219456"/>
          </a:xfrm>
          <a:prstGeom prst="rect">
            <a:avLst/>
          </a:prstGeom>
          <a:solidFill>
            <a:srgbClr val="F2F0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327355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85800" y="3657600"/>
            <a:ext cx="274320" cy="274320"/>
          </a:xfrm>
          <a:prstGeom prst="ellipse">
            <a:avLst/>
          </a:prstGeom>
          <a:solidFill>
            <a:srgbClr val="EFEA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66674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51560" y="36667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Lattice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423160" y="36667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26.6%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520440" y="3685032"/>
            <a:ext cx="1554480" cy="219456"/>
          </a:xfrm>
          <a:prstGeom prst="rect">
            <a:avLst/>
          </a:prstGeom>
          <a:solidFill>
            <a:srgbClr val="E5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0440" y="368503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A3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SUITE-ADJ.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85800" y="4069080"/>
            <a:ext cx="274320" cy="274320"/>
          </a:xfrm>
          <a:prstGeom prst="ellipse">
            <a:avLst/>
          </a:prstGeom>
          <a:solidFill>
            <a:srgbClr val="EFEA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0782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51560" y="40782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Amp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423160" y="40782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520440" y="4096512"/>
            <a:ext cx="1554480" cy="219456"/>
          </a:xfrm>
          <a:prstGeom prst="rect">
            <a:avLst/>
          </a:prstGeom>
          <a:solidFill>
            <a:srgbClr val="F2F0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20440" y="409651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85800" y="4434840"/>
            <a:ext cx="4480560" cy="228600"/>
          </a:xfrm>
          <a:prstGeom prst="rect">
            <a:avLst/>
          </a:prstGeom>
          <a:solidFill>
            <a:srgbClr val="FAF6F1"/>
          </a:solidFill>
          <a:ln w="12700">
            <a:solidFill>
              <a:srgbClr val="E5DE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446227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SOLUTION  </a:t>
            </a:r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recognition / engagement specialist        </a:t>
            </a:r>
            <a:pPr indent="0" marL="0">
              <a:buNone/>
            </a:pPr>
            <a:r>
              <a:rPr lang="en-US" sz="800" b="1" spc="200" kern="0" dirty="0">
                <a:solidFill>
                  <a:srgbClr val="2A3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 </a:t>
            </a:r>
            <a:pPr indent="0" marL="0">
              <a:buNone/>
            </a:pPr>
            <a:r>
              <a:rPr lang="en-US" sz="800" dirty="0">
                <a:solidFill>
                  <a:srgbClr val="2A3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broad HCM platform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577840" y="1600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new pattern.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577840" y="2011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 is the only HR suite vendor in the top tier. Three months ago they were not. They moved from outside the top 5 to #2 in a single quarter.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577840" y="3017520"/>
            <a:ext cx="3108960" cy="1691640"/>
          </a:xfrm>
          <a:prstGeom prst="rect">
            <a:avLst/>
          </a:prstGeom>
          <a:solidFill>
            <a:srgbClr val="2A3658"/>
          </a:solidFill>
          <a:ln w="12700">
            <a:solidFill>
              <a:srgbClr val="2A365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60720" y="31546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760720" y="34290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encroachment is harder to fight than point-solution competition. Workday's visibility is anchored to a much larger content footprint covering payroll, benefits, time, and HCM. As they enter recognition prompts, they bring that gravity with them.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480060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Defending recognition is no longer enough. We need to start playing in the broader HCM-adjacent prompt set.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5DED4"/>
          </a:solidFill>
          <a:ln w="12700">
            <a:solidFill>
              <a:srgbClr val="E5DE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500176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Workhuman   /   AEO Progress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229600" y="500176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/ CONTENT GRAVITY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Achievers has 2.16× our content gravity in the category.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459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CITED DOMAINS IN HR TECHNOLOGY  /  YTD CITATIONS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achievers.com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2039112"/>
            <a:ext cx="4754880" cy="118872"/>
          </a:xfrm>
          <a:prstGeom prst="rect">
            <a:avLst/>
          </a:prstGeom>
          <a:solidFill>
            <a:srgbClr val="EFEAE2"/>
          </a:solidFill>
          <a:ln w="12700">
            <a:solidFill>
              <a:srgbClr val="EFEA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2039112"/>
            <a:ext cx="4596218" cy="1188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0920" y="1965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396,319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2402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peoplemanagingpeople.com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2313432"/>
            <a:ext cx="4754880" cy="118872"/>
          </a:xfrm>
          <a:prstGeom prst="rect">
            <a:avLst/>
          </a:prstGeom>
          <a:solidFill>
            <a:srgbClr val="EFEAE2"/>
          </a:solidFill>
          <a:ln w="12700">
            <a:solidFill>
              <a:srgbClr val="EFEA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2313432"/>
            <a:ext cx="2633032" cy="118872"/>
          </a:xfrm>
          <a:prstGeom prst="rect">
            <a:avLst/>
          </a:prstGeom>
          <a:solidFill>
            <a:srgbClr val="9A9A9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0920" y="2240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227,039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5146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workhuman.com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68880" y="2587752"/>
            <a:ext cx="4754880" cy="118872"/>
          </a:xfrm>
          <a:prstGeom prst="rect">
            <a:avLst/>
          </a:prstGeom>
          <a:solidFill>
            <a:srgbClr val="EFEAE2"/>
          </a:solidFill>
          <a:ln w="12700">
            <a:solidFill>
              <a:srgbClr val="EFEA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2587752"/>
            <a:ext cx="2130917" cy="118872"/>
          </a:xfrm>
          <a:prstGeom prst="rect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2514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183,743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27889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gartner.com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68880" y="2862072"/>
            <a:ext cx="4754880" cy="118872"/>
          </a:xfrm>
          <a:prstGeom prst="rect">
            <a:avLst/>
          </a:prstGeom>
          <a:solidFill>
            <a:srgbClr val="EFEAE2"/>
          </a:solidFill>
          <a:ln w="12700">
            <a:solidFill>
              <a:srgbClr val="EFEA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68880" y="2862072"/>
            <a:ext cx="1972046" cy="118872"/>
          </a:xfrm>
          <a:prstGeom prst="rect">
            <a:avLst/>
          </a:prstGeom>
          <a:solidFill>
            <a:srgbClr val="9A9A9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2788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170,044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30632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68880" y="3136392"/>
            <a:ext cx="4754880" cy="118872"/>
          </a:xfrm>
          <a:prstGeom prst="rect">
            <a:avLst/>
          </a:prstGeom>
          <a:solidFill>
            <a:srgbClr val="EFEAE2"/>
          </a:solidFill>
          <a:ln w="12700">
            <a:solidFill>
              <a:srgbClr val="EFEA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68880" y="3136392"/>
            <a:ext cx="1779926" cy="118872"/>
          </a:xfrm>
          <a:prstGeom prst="rect">
            <a:avLst/>
          </a:prstGeom>
          <a:solidFill>
            <a:srgbClr val="9A9A9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3063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153,478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33375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bonusly.com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468880" y="3410712"/>
            <a:ext cx="4754880" cy="118872"/>
          </a:xfrm>
          <a:prstGeom prst="rect">
            <a:avLst/>
          </a:prstGeom>
          <a:solidFill>
            <a:srgbClr val="EFEAE2"/>
          </a:solidFill>
          <a:ln w="12700">
            <a:solidFill>
              <a:srgbClr val="EFEA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68880" y="3410712"/>
            <a:ext cx="1743290" cy="1188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60920" y="3337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150,319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36118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awardco.com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468880" y="3685032"/>
            <a:ext cx="4754880" cy="118872"/>
          </a:xfrm>
          <a:prstGeom prst="rect">
            <a:avLst/>
          </a:prstGeom>
          <a:solidFill>
            <a:srgbClr val="EFEAE2"/>
          </a:solidFill>
          <a:ln w="12700">
            <a:solidFill>
              <a:srgbClr val="EFEA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68880" y="3685032"/>
            <a:ext cx="1618109" cy="1188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60920" y="36118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139,525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" y="38862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octanner.com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468880" y="3959352"/>
            <a:ext cx="4754880" cy="118872"/>
          </a:xfrm>
          <a:prstGeom prst="rect">
            <a:avLst/>
          </a:prstGeom>
          <a:solidFill>
            <a:srgbClr val="EFEAE2"/>
          </a:solidFill>
          <a:ln w="12700">
            <a:solidFill>
              <a:srgbClr val="EFEA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68880" y="3959352"/>
            <a:ext cx="1606917" cy="1188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60920" y="38862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138,560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5800" y="402336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competitor   </a:t>
            </a:r>
            <a:pPr indent="0" marL="0">
              <a:buNone/>
            </a:pPr>
            <a:r>
              <a:rPr lang="en-US" sz="9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Workhuman   </a:t>
            </a:r>
            <a:pPr indent="0" marL="0">
              <a:buNone/>
            </a:pPr>
            <a:r>
              <a:rPr lang="en-US" sz="90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/ analyst / distributor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solidFill>
            <a:srgbClr val="F4D9D9"/>
          </a:solidFill>
          <a:ln w="12700">
            <a:solidFill>
              <a:srgbClr val="F4D9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44165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 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Achievers is cited 2.16× more than Workhuman across category prompts. Their content moat is the lever AI uses to repeat them. Closing this gap is the single highest-leverage AEO play.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5DED4"/>
          </a:solidFill>
          <a:ln w="12700">
            <a:solidFill>
              <a:srgbClr val="E5DE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500176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Workhuman   /   AEO Progress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229600" y="500176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/ TOPIC GAP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win recognition. We are absent from AI in HR.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5720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459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 TOPICS BY QUERY VOLUME  /  YTD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9933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Recognition Software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480,542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2450592"/>
            <a:ext cx="4023360" cy="73152"/>
          </a:xfrm>
          <a:prstGeom prst="rect">
            <a:avLst/>
          </a:prstGeom>
          <a:solidFill>
            <a:srgbClr val="EFEAE2"/>
          </a:solidFill>
          <a:ln w="12700">
            <a:solidFill>
              <a:srgbClr val="EFEA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450592"/>
            <a:ext cx="3866787" cy="73152"/>
          </a:xfrm>
          <a:prstGeom prst="rect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1993392"/>
            <a:ext cx="1051560" cy="219456"/>
          </a:xfrm>
          <a:prstGeom prst="rect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99339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5603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Experience Software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28072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449,312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3017520"/>
            <a:ext cx="4023360" cy="73152"/>
          </a:xfrm>
          <a:prstGeom prst="rect">
            <a:avLst/>
          </a:prstGeom>
          <a:solidFill>
            <a:srgbClr val="EFEAE2"/>
          </a:solidFill>
          <a:ln w="12700">
            <a:solidFill>
              <a:srgbClr val="EFEA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017520"/>
            <a:ext cx="3615488" cy="73152"/>
          </a:xfrm>
          <a:prstGeom prst="rect">
            <a:avLst/>
          </a:prstGeom>
          <a:solidFill>
            <a:srgbClr val="E0A82E"/>
          </a:solidFill>
          <a:ln w="12700">
            <a:solidFill>
              <a:srgbClr val="E0A8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2560320"/>
            <a:ext cx="1051560" cy="219456"/>
          </a:xfrm>
          <a:prstGeom prst="rect">
            <a:avLst/>
          </a:prstGeom>
          <a:solidFill>
            <a:srgbClr val="E0A82E"/>
          </a:solidFill>
          <a:ln w="12700">
            <a:solidFill>
              <a:srgbClr val="E0A8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256032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31272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Appreciation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33741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432,269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" y="3584448"/>
            <a:ext cx="4023360" cy="73152"/>
          </a:xfrm>
          <a:prstGeom prst="rect">
            <a:avLst/>
          </a:prstGeom>
          <a:solidFill>
            <a:srgbClr val="EFEAE2"/>
          </a:solidFill>
          <a:ln w="12700">
            <a:solidFill>
              <a:srgbClr val="EFEA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584448"/>
            <a:ext cx="3478348" cy="73152"/>
          </a:xfrm>
          <a:prstGeom prst="rect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3127248"/>
            <a:ext cx="1051560" cy="219456"/>
          </a:xfrm>
          <a:prstGeom prst="rect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312724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" y="36941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39410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415,052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5800" y="4151376"/>
            <a:ext cx="4023360" cy="73152"/>
          </a:xfrm>
          <a:prstGeom prst="rect">
            <a:avLst/>
          </a:prstGeom>
          <a:solidFill>
            <a:srgbClr val="EFEAE2"/>
          </a:solidFill>
          <a:ln w="12700">
            <a:solidFill>
              <a:srgbClr val="EFEA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4151376"/>
            <a:ext cx="3339807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0" y="3694176"/>
            <a:ext cx="1051560" cy="21945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369417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5800" y="42611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Experience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" y="45079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331,942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5800" y="4718304"/>
            <a:ext cx="4023360" cy="73152"/>
          </a:xfrm>
          <a:prstGeom prst="rect">
            <a:avLst/>
          </a:prstGeom>
          <a:solidFill>
            <a:srgbClr val="EFEAE2"/>
          </a:solidFill>
          <a:ln w="12700">
            <a:solidFill>
              <a:srgbClr val="EFEA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4718304"/>
            <a:ext cx="2671044" cy="73152"/>
          </a:xfrm>
          <a:prstGeom prst="rect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0" y="4261104"/>
            <a:ext cx="1051560" cy="219456"/>
          </a:xfrm>
          <a:prstGeom prst="rect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0" y="426110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212080" y="1508760"/>
            <a:ext cx="3474720" cy="32461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40680" y="16916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40680" y="199339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415K</a:t>
            </a:r>
            <a:endParaRPr lang="en-US" sz="5600" dirty="0"/>
          </a:p>
        </p:txBody>
      </p:sp>
      <p:sp>
        <p:nvSpPr>
          <p:cNvPr id="39" name="Text 37"/>
          <p:cNvSpPr/>
          <p:nvPr/>
        </p:nvSpPr>
        <p:spPr>
          <a:xfrm>
            <a:off x="5440680" y="2834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4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queries on "AI in HR" topics, where Workhuman has effectively zero published content.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40680" y="3520440"/>
            <a:ext cx="3108960" cy="4572"/>
          </a:xfrm>
          <a:prstGeom prst="rect">
            <a:avLst/>
          </a:prstGeom>
          <a:solidFill>
            <a:srgbClr val="F4D9D9"/>
          </a:solidFill>
          <a:ln w="12700">
            <a:solidFill>
              <a:srgbClr val="F4D9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40680" y="36118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TOP 5 BUYER PROMPTS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40680" y="38587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about AI tools for HR. We do not show up because we have no content engineered for those queries.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481888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AI in HR cluster (pillar + supporting passages + comparison artifact). It is the largest unexploited topic in our reach.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5DED4"/>
          </a:solidFill>
          <a:ln w="12700">
            <a:solidFill>
              <a:srgbClr val="E5DE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500176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Workhuman   /   AEO Progress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229600" y="500176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WORKING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content is showing up where the buying questions live.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0233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45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BUYER PROMPTS WE APPEAR 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2020824"/>
            <a:ext cx="274320" cy="274320"/>
          </a:xfrm>
          <a:prstGeom prst="ellipse">
            <a:avLst/>
          </a:prstGeom>
          <a:solidFill>
            <a:srgbClr val="F4D9D9"/>
          </a:solidFill>
          <a:ln w="12700">
            <a:solidFill>
              <a:srgbClr val="F4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299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best AI tools for modern HR processes?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523744"/>
            <a:ext cx="274320" cy="274320"/>
          </a:xfrm>
          <a:prstGeom prst="ellipse">
            <a:avLst/>
          </a:prstGeom>
          <a:solidFill>
            <a:srgbClr val="F4D9D9"/>
          </a:solidFill>
          <a:ln w="12700">
            <a:solidFill>
              <a:srgbClr val="F4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328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2468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AI-driven HR tools are most popular with large teams?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026664"/>
            <a:ext cx="274320" cy="274320"/>
          </a:xfrm>
          <a:prstGeom prst="ellipse">
            <a:avLst/>
          </a:prstGeom>
          <a:solidFill>
            <a:srgbClr val="F4D9D9"/>
          </a:solidFill>
          <a:ln w="12700">
            <a:solidFill>
              <a:srgbClr val="F4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358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971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reliable platforms using AI for HR decision-making?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529584"/>
            <a:ext cx="274320" cy="274320"/>
          </a:xfrm>
          <a:prstGeom prst="ellipse">
            <a:avLst/>
          </a:prstGeom>
          <a:solidFill>
            <a:srgbClr val="F4D9D9"/>
          </a:solidFill>
          <a:ln w="12700">
            <a:solidFill>
              <a:srgbClr val="F4D9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5387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3474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I track performance data with reliable software?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4032504"/>
            <a:ext cx="274320" cy="274320"/>
          </a:xfrm>
          <a:prstGeom prst="ellipse">
            <a:avLst/>
          </a:prstGeom>
          <a:solidFill>
            <a:srgbClr val="F4D9D9"/>
          </a:solidFill>
          <a:ln w="12700">
            <a:solidFill>
              <a:srgbClr val="F4D9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0416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3977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platforms help visualize employee data effectively?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508760"/>
            <a:ext cx="40233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1645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WORKHUMAN.COM URLS CITED MOST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92040" y="2011680"/>
            <a:ext cx="3566160" cy="1051560"/>
          </a:xfrm>
          <a:prstGeom prst="rect">
            <a:avLst/>
          </a:prstGeom>
          <a:solidFill>
            <a:srgbClr val="F4D9D9"/>
          </a:solidFill>
          <a:ln w="12700">
            <a:solidFill>
              <a:srgbClr val="F4D9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2103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/blog/employee-recognition-software/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2468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52,744 citations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29200" y="27889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0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across category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92040" y="3246120"/>
            <a:ext cx="3566160" cy="1051560"/>
          </a:xfrm>
          <a:prstGeom prst="rect">
            <a:avLst/>
          </a:prstGeom>
          <a:solidFill>
            <a:srgbClr val="F4D9D9"/>
          </a:solidFill>
          <a:ln w="12700">
            <a:solidFill>
              <a:srgbClr val="F4D9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3337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/blog/employee-engagement-software/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0" y="3703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37,382 citations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029200" y="40233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0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8 across category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80060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citations across all eight tracked AI surfaces. Our engagement and recognition pillar pages are the workhorses.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5DED4"/>
          </a:solidFill>
          <a:ln w="12700">
            <a:solidFill>
              <a:srgbClr val="E5DE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500176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Workhuman   /   AEO Progress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229600" y="500176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COVERAGE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surfacing across every major AI assistant.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91640"/>
            <a:ext cx="1810512" cy="713232"/>
          </a:xfrm>
          <a:prstGeom prst="rect">
            <a:avLst/>
          </a:prstGeom>
          <a:solidFill>
            <a:srgbClr val="FAF6F1"/>
          </a:solidFill>
          <a:ln w="9525">
            <a:solidFill>
              <a:srgbClr val="E5DE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91640"/>
            <a:ext cx="45720" cy="7132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6479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Mode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33472" y="1691640"/>
            <a:ext cx="1810512" cy="713232"/>
          </a:xfrm>
          <a:prstGeom prst="rect">
            <a:avLst/>
          </a:prstGeom>
          <a:solidFill>
            <a:srgbClr val="FAF6F1"/>
          </a:solidFill>
          <a:ln w="9525">
            <a:solidFill>
              <a:srgbClr val="E5DE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1691640"/>
            <a:ext cx="45720" cy="7132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0632" y="176479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70632" y="201168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1.74M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81144" y="1691640"/>
            <a:ext cx="1810512" cy="713232"/>
          </a:xfrm>
          <a:prstGeom prst="rect">
            <a:avLst/>
          </a:prstGeom>
          <a:solidFill>
            <a:srgbClr val="FAF6F1"/>
          </a:solidFill>
          <a:ln w="9525">
            <a:solidFill>
              <a:srgbClr val="E5DE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81144" y="1691640"/>
            <a:ext cx="45720" cy="7132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176479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18304" y="201168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1.49M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28816" y="1691640"/>
            <a:ext cx="1810512" cy="713232"/>
          </a:xfrm>
          <a:prstGeom prst="rect">
            <a:avLst/>
          </a:prstGeom>
          <a:solidFill>
            <a:srgbClr val="FAF6F1"/>
          </a:solidFill>
          <a:ln w="9525">
            <a:solidFill>
              <a:srgbClr val="E5DE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28816" y="1691640"/>
            <a:ext cx="45720" cy="7132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65976" y="176479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Overviews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65976" y="201168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1.38M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5800" y="2633472"/>
            <a:ext cx="1810512" cy="713232"/>
          </a:xfrm>
          <a:prstGeom prst="rect">
            <a:avLst/>
          </a:prstGeom>
          <a:solidFill>
            <a:srgbClr val="FAF6F1"/>
          </a:solidFill>
          <a:ln w="9525">
            <a:solidFill>
              <a:srgbClr val="E5DE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2633472"/>
            <a:ext cx="45720" cy="7132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270662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295351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784K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633472" y="2633472"/>
            <a:ext cx="1810512" cy="713232"/>
          </a:xfrm>
          <a:prstGeom prst="rect">
            <a:avLst/>
          </a:prstGeom>
          <a:solidFill>
            <a:srgbClr val="FAF6F1"/>
          </a:solidFill>
          <a:ln w="9525">
            <a:solidFill>
              <a:srgbClr val="E5DE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33472" y="2633472"/>
            <a:ext cx="45720" cy="7132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70632" y="270662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70632" y="295351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766K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81144" y="2633472"/>
            <a:ext cx="1810512" cy="713232"/>
          </a:xfrm>
          <a:prstGeom prst="rect">
            <a:avLst/>
          </a:prstGeom>
          <a:solidFill>
            <a:srgbClr val="FAF6F1"/>
          </a:solidFill>
          <a:ln w="9525">
            <a:solidFill>
              <a:srgbClr val="E5DE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81144" y="2633472"/>
            <a:ext cx="45720" cy="7132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18304" y="270662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18304" y="295351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410K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528816" y="2633472"/>
            <a:ext cx="1810512" cy="713232"/>
          </a:xfrm>
          <a:prstGeom prst="rect">
            <a:avLst/>
          </a:prstGeom>
          <a:solidFill>
            <a:srgbClr val="FAF6F1"/>
          </a:solidFill>
          <a:ln w="9525">
            <a:solidFill>
              <a:srgbClr val="E5DE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28816" y="2633472"/>
            <a:ext cx="45720" cy="7132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65976" y="270662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665976" y="295351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175K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" y="4023360"/>
            <a:ext cx="7818120" cy="59436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" y="4114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68680" y="431596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Mode and Perplexity are now the highest-volume answer surfaces in our category. Our content needs to be authored for those answer formats first.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480060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Profound, total YTD queries observed across the HR Technology category, by model.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5DED4"/>
          </a:solidFill>
          <a:ln w="12700">
            <a:solidFill>
              <a:srgbClr val="E5DE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500176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Workhuman   /   AEO Progress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229600" y="500176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Q1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have done.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5176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rgbClr val="F4D9D9"/>
          </a:solidFill>
          <a:ln w="12700">
            <a:solidFill>
              <a:srgbClr val="F4D9D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8013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830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 01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25880" y="19933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Title of completed work ]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5800" y="2468880"/>
            <a:ext cx="2194560" cy="18288"/>
          </a:xfrm>
          <a:prstGeom prst="rect">
            <a:avLst/>
          </a:prstGeom>
          <a:solidFill>
            <a:srgbClr val="E5DED4"/>
          </a:solidFill>
          <a:ln w="12700">
            <a:solidFill>
              <a:srgbClr val="E5DE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5603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85800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One sentence describing the action ]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5800" y="33832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85800" y="3611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The specific metric or signal it was meant to move ]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5800" y="41605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85800" y="4389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What happened, quantified ]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46120" y="1508760"/>
            <a:ext cx="265176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474720" y="1691640"/>
            <a:ext cx="548640" cy="548640"/>
          </a:xfrm>
          <a:prstGeom prst="ellipse">
            <a:avLst/>
          </a:prstGeom>
          <a:solidFill>
            <a:srgbClr val="F4D9D9"/>
          </a:solidFill>
          <a:ln w="12700">
            <a:solidFill>
              <a:srgbClr val="F4D9D9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1801368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114800" y="17830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 02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114800" y="19933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Title of completed work ]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3474720" y="2468880"/>
            <a:ext cx="2194560" cy="18288"/>
          </a:xfrm>
          <a:prstGeom prst="rect">
            <a:avLst/>
          </a:prstGeom>
          <a:solidFill>
            <a:srgbClr val="E5DED4"/>
          </a:solidFill>
          <a:ln w="12700">
            <a:solidFill>
              <a:srgbClr val="E5DED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474720" y="25603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3474720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One sentence describing the action ]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3474720" y="33832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3474720" y="3611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The specific metric or signal it was meant to move ]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3474720" y="41605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3474720" y="4389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What happened, quantified ]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035040" y="1508760"/>
            <a:ext cx="265176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263640" y="1691640"/>
            <a:ext cx="548640" cy="548640"/>
          </a:xfrm>
          <a:prstGeom prst="ellipse">
            <a:avLst/>
          </a:prstGeom>
          <a:solidFill>
            <a:srgbClr val="F4D9D9"/>
          </a:solidFill>
          <a:ln w="12700">
            <a:solidFill>
              <a:srgbClr val="F4D9D9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801368"/>
            <a:ext cx="329184" cy="32918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903720" y="17830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 03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6903720" y="19933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Title of completed work ]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6263640" y="2468880"/>
            <a:ext cx="2194560" cy="18288"/>
          </a:xfrm>
          <a:prstGeom prst="rect">
            <a:avLst/>
          </a:prstGeom>
          <a:solidFill>
            <a:srgbClr val="E5DED4"/>
          </a:solidFill>
          <a:ln w="12700">
            <a:solidFill>
              <a:srgbClr val="E5DED4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263640" y="25603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6263640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One sentence describing the action ]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6263640" y="33832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6263640" y="3611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The specific metric or signal it was meant to move ]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6263640" y="41605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6263640" y="4389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What happened, quantified ]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5DED4"/>
          </a:solidFill>
          <a:ln w="12700">
            <a:solidFill>
              <a:srgbClr val="E5DED4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365760" y="500176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Workhuman   /   AEO Progress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8229600" y="500176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Q2 AND FORWARD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are continuing.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54864" cy="914400"/>
          </a:xfrm>
          <a:prstGeom prst="rect">
            <a:avLst/>
          </a:prstGeom>
          <a:solidFill>
            <a:srgbClr val="E0A82E"/>
          </a:solidFill>
          <a:ln w="12700">
            <a:solidFill>
              <a:srgbClr val="E0A8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01368"/>
            <a:ext cx="411480" cy="411480"/>
          </a:xfrm>
          <a:prstGeom prst="ellipse">
            <a:avLst/>
          </a:prstGeom>
          <a:solidFill>
            <a:srgbClr val="E0A82E"/>
          </a:solidFill>
          <a:ln w="12700">
            <a:solidFill>
              <a:srgbClr val="E0A82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865376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30 DAYS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417320" y="19385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Initiative title ]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669280" y="18470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One line on what it is and the metric it advances ]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606040"/>
            <a:ext cx="8229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606040"/>
            <a:ext cx="54864" cy="914400"/>
          </a:xfrm>
          <a:prstGeom prst="rect">
            <a:avLst/>
          </a:prstGeom>
          <a:solidFill>
            <a:srgbClr val="E0A82E"/>
          </a:solidFill>
          <a:ln w="12700">
            <a:solidFill>
              <a:srgbClr val="E0A82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2852928"/>
            <a:ext cx="411480" cy="411480"/>
          </a:xfrm>
          <a:prstGeom prst="ellipse">
            <a:avLst/>
          </a:prstGeom>
          <a:solidFill>
            <a:srgbClr val="E0A82E"/>
          </a:solidFill>
          <a:ln w="12700">
            <a:solidFill>
              <a:srgbClr val="E0A82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916936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17320" y="2770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60 DAYS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417320" y="29900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Initiative title ]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669280" y="28986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One line on what it is and the metric it advances ]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3657600"/>
            <a:ext cx="54864" cy="914400"/>
          </a:xfrm>
          <a:prstGeom prst="rect">
            <a:avLst/>
          </a:prstGeom>
          <a:solidFill>
            <a:srgbClr val="E0A82E"/>
          </a:solidFill>
          <a:ln w="12700">
            <a:solidFill>
              <a:srgbClr val="E0A82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77240" y="3904488"/>
            <a:ext cx="411480" cy="411480"/>
          </a:xfrm>
          <a:prstGeom prst="ellipse">
            <a:avLst/>
          </a:prstGeom>
          <a:solidFill>
            <a:srgbClr val="E0A82E"/>
          </a:solidFill>
          <a:ln w="12700">
            <a:solidFill>
              <a:srgbClr val="E0A82E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968496"/>
            <a:ext cx="283464" cy="2834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17320" y="3822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90 DAYS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417320" y="40416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Initiative title ]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5669280" y="39502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One line on what it is and the metric it advances ]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5DED4"/>
          </a:solidFill>
          <a:ln w="12700">
            <a:solidFill>
              <a:srgbClr val="E5DED4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365760" y="500176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Workhuman   /   AEO Progress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8229600" y="500176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STRATEGIC POSITION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are deliberately not doing.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310896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POSITION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85800" y="23317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AEO is fundamentally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influence game.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32461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4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answer questions inline. The buyer reads the answer and forms an impression of who the trusted vendors are. That impression compounds long before a click ever happens.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554480"/>
            <a:ext cx="40233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8288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17373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DOING  /  01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349240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Tactic we are choosing not to invest in ]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663440" y="2633472"/>
            <a:ext cx="40233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90779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49240" y="28163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DOING  /  02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5349240" y="30449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Metric we are choosing not to chase ]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663440" y="3712464"/>
            <a:ext cx="40233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986784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49240" y="389534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DOING  /  03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5349240" y="41239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Distraction we are explicitly deferring ]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5DED4"/>
          </a:solidFill>
          <a:ln w="12700">
            <a:solidFill>
              <a:srgbClr val="E5DED4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365760" y="500176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Workhuman   /   AEO Progress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8229600" y="500176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E0A82E"/>
          </a:solidFill>
          <a:ln w="12700">
            <a:solidFill>
              <a:srgbClr val="E0A8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4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WORKHUMAN  /  AEO PROGRESS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visibility</a:t>
            </a:r>
            <a:endParaRPr lang="en-US" sz="5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influence.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914400" y="3246120"/>
            <a:ext cx="548640" cy="36576"/>
          </a:xfrm>
          <a:prstGeom prst="rect">
            <a:avLst/>
          </a:prstGeom>
          <a:solidFill>
            <a:srgbClr val="E0A82E"/>
          </a:solidFill>
          <a:ln w="12700">
            <a:solidFill>
              <a:srgbClr val="E0A8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42900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F4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HR Technology answer set is narrowing. Our job is to stay in it, climb within it, and convert that influence into brand demand we can measure on workhuman.com.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4348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ideas, pushback. All welcome.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AEO Progress, Q1 2026</dc:title>
  <dc:subject>PptxGenJS Presentation</dc:subject>
  <dc:creator>Workhuman Web + Creative Marketing</dc:creator>
  <cp:lastModifiedBy>Workhuman Web + Creative Marketing</cp:lastModifiedBy>
  <cp:revision>1</cp:revision>
  <dcterms:created xsi:type="dcterms:W3CDTF">2026-05-04T00:22:00Z</dcterms:created>
  <dcterms:modified xsi:type="dcterms:W3CDTF">2026-05-04T00:22:00Z</dcterms:modified>
</cp:coreProperties>
</file>